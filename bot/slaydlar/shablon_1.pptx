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03" autoAdjust="0"/>
    <p:restoredTop sz="94660"/>
  </p:normalViewPr>
  <p:slideViewPr>
    <p:cSldViewPr snapToGrid="0">
      <p:cViewPr varScale="1">
        <p:scale>
          <a:sx n="110" d="100"/>
          <a:sy n="110" d="100"/>
        </p:scale>
        <p:origin x="138" y="4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ru-RU"/>
              <a:t>Образец заголовка</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ru-RU"/>
              <a:t>Образец заголовка</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2A54C80-263E-416B-A8E0-580EDEADCBDC}" type="datetimeFigureOut">
              <a:rPr lang="en-US" dirty="0"/>
              <a:t>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11/7/2024</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11/7/2024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6E3BE7-0906-59B9-E420-F176D83EE100}"/>
              </a:ext>
            </a:extLst>
          </p:cNvPr>
          <p:cNvSpPr>
            <a:spLocks noGrp="1"/>
          </p:cNvSpPr>
          <p:nvPr>
            <p:ph type="ctrTitle"/>
          </p:nvPr>
        </p:nvSpPr>
        <p:spPr/>
        <p:txBody>
          <a:bodyPr/>
          <a:lstStyle/>
          <a:p>
            <a:r>
              <a:rPr lang="en-US" sz="3200" dirty="0" err="1">
                <a:latin typeface="Times New Roman" panose="02020603050405020304" pitchFamily="18" charset="0"/>
                <a:cs typeface="Times New Roman" panose="02020603050405020304" pitchFamily="18" charset="0"/>
              </a:rPr>
              <a:t>Mavzu:Avtomobil</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yo’llarni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ta’mirlash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texnik</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xizmat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ko’rsatishning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texnik</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qoidalari</a:t>
            </a:r>
            <a:endParaRPr lang="ru-RU" sz="3200"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9BA11246-1E92-A2BF-CB50-87381E344A51}"/>
              </a:ext>
            </a:extLst>
          </p:cNvPr>
          <p:cNvSpPr>
            <a:spLocks noGrp="1"/>
          </p:cNvSpPr>
          <p:nvPr>
            <p:ph type="subTitle" idx="1"/>
          </p:nvPr>
        </p:nvSpPr>
        <p:spPr/>
        <p:txBody>
          <a:bodyPr>
            <a:normAutofit/>
          </a:bodyPr>
          <a:lstStyle/>
          <a:p>
            <a:r>
              <a:rPr lang="en-US" sz="2000" dirty="0" err="1">
                <a:latin typeface="Times New Roman" panose="02020603050405020304" pitchFamily="18" charset="0"/>
                <a:cs typeface="Times New Roman" panose="02020603050405020304" pitchFamily="18" charset="0"/>
              </a:rPr>
              <a:t>Tayyorladi</a:t>
            </a:r>
            <a:r>
              <a:rPr lang="en-US" sz="2000" dirty="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4846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C17EB4-F3E6-D2EE-37E0-269F58E31F9C}"/>
              </a:ext>
            </a:extLst>
          </p:cNvPr>
          <p:cNvSpPr>
            <a:spLocks noGrp="1"/>
          </p:cNvSpPr>
          <p:nvPr>
            <p:ph type="title"/>
          </p:nvPr>
        </p:nvSpPr>
        <p:spPr/>
        <p:txBody>
          <a:bodyPr/>
          <a:lstStyle/>
          <a:p>
            <a:r>
              <a:rPr lang="en-US" dirty="0"/>
              <a:t>                          </a:t>
            </a:r>
            <a:r>
              <a:rPr lang="en-US" dirty="0" err="1">
                <a:latin typeface="Times New Roman" panose="02020603050405020304" pitchFamily="18" charset="0"/>
                <a:cs typeface="Times New Roman" panose="02020603050405020304" pitchFamily="18" charset="0"/>
              </a:rPr>
              <a:t>Reja</a:t>
            </a:r>
            <a:r>
              <a:rPr lang="en-US" dirty="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E3626DB3-09C5-BC1B-CAF7-406BAA1F70B8}"/>
              </a:ext>
            </a:extLst>
          </p:cNvPr>
          <p:cNvSpPr>
            <a:spLocks noGrp="1"/>
          </p:cNvSpPr>
          <p:nvPr>
            <p:ph idx="1"/>
          </p:nvPr>
        </p:nvSpPr>
        <p:spPr>
          <a:xfrm>
            <a:off x="677334" y="1506583"/>
            <a:ext cx="8596668" cy="4534779"/>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1.</a:t>
            </a:r>
            <a:r>
              <a:rPr lang="uz-Latn-UZ" sz="2000" dirty="0">
                <a:latin typeface="Times New Roman" panose="02020603050405020304" pitchFamily="18" charset="0"/>
                <a:cs typeface="Times New Roman" panose="02020603050405020304" pitchFamily="18" charset="0"/>
              </a:rPr>
              <a:t>Avtomobil yo'llarini ta'mirlash va texnik xizmat ko'rsatishning umumiy tushunchalari</a:t>
            </a:r>
            <a:r>
              <a:rPr lang="en-US" sz="2000" dirty="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2.</a:t>
            </a:r>
            <a:r>
              <a:rPr lang="uz-Latn-UZ" sz="2000" dirty="0">
                <a:latin typeface="Times New Roman" panose="02020603050405020304" pitchFamily="18" charset="0"/>
                <a:cs typeface="Times New Roman" panose="02020603050405020304" pitchFamily="18" charset="0"/>
              </a:rPr>
              <a:t>Avtomobil yo'llarini ta'mirlashning texnik qoidalari</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3.</a:t>
            </a:r>
            <a:r>
              <a:rPr lang="uz-Latn-UZ" sz="2000" dirty="0">
                <a:latin typeface="Times New Roman" panose="02020603050405020304" pitchFamily="18" charset="0"/>
                <a:cs typeface="Times New Roman" panose="02020603050405020304" pitchFamily="18" charset="0"/>
              </a:rPr>
              <a:t>Avtomobil yo'llarini ta'mirlashda yuzaga keladigan muammolar va ularning yechimlari</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4.Xulosa.</a:t>
            </a:r>
          </a:p>
          <a:p>
            <a:pPr marL="0" indent="0">
              <a:buNone/>
            </a:pPr>
            <a:r>
              <a:rPr lang="en-US" sz="2000" dirty="0" err="1">
                <a:latin typeface="Times New Roman" panose="02020603050405020304" pitchFamily="18" charset="0"/>
                <a:cs typeface="Times New Roman" panose="02020603050405020304" pitchFamily="18" charset="0"/>
              </a:rPr>
              <a:t>Foydalanilgan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adabiyotlar</a:t>
            </a:r>
            <a:r>
              <a:rPr lang="en-US" sz="2000" dirty="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2288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16CBD56-766E-6C7D-855B-36D625051188}"/>
              </a:ext>
            </a:extLst>
          </p:cNvPr>
          <p:cNvSpPr>
            <a:spLocks noGrp="1"/>
          </p:cNvSpPr>
          <p:nvPr>
            <p:ph idx="1"/>
          </p:nvPr>
        </p:nvSpPr>
        <p:spPr>
          <a:xfrm>
            <a:off x="677334" y="627017"/>
            <a:ext cx="8596668" cy="5414345"/>
          </a:xfrm>
        </p:spPr>
        <p:txBody>
          <a:bodyPr>
            <a:normAutofit lnSpcReduction="10000"/>
          </a:bodyPr>
          <a:lstStyle/>
          <a:p>
            <a:pPr marL="0" indent="0">
              <a:buNone/>
            </a:pPr>
            <a:r>
              <a:rPr lang="uz-Latn-UZ" dirty="0">
                <a:latin typeface="Times New Roman" panose="02020603050405020304" pitchFamily="18" charset="0"/>
                <a:cs typeface="Times New Roman" panose="02020603050405020304" pitchFamily="18" charset="0"/>
              </a:rPr>
              <a:t>Avtomobil yo‘llari transport tizimining muhim tarkibiy qismidir va iqtisodiyotning samarali ishlashida katta rol o‘ynaydi. Yo‘llar barcha turdagi transport vositalarining xavfsiz va tez harakatlanishini ta’minlashga xizmat qiladi. Biroq, yo‘l infratuzilmasining samarali ishlashi, uning sifatli va uzoq muddat foydalanishga yaroqli bo‘lishi uchun muntazam ta’mirlash va texnik xizmat ko‘rsatish talab etiladi. Har qanday yo‘l vaqti-vaqti bilan ta’mirlanishi, yangilanib borishi, texnik xizmat ko‘rsatilishi kerak. Bu jarayonlar yo‘lning ishlash muddatini uzaytirish, xavfsizlikni oshirish va transport oqimini soddalashtirishga xizmat qiladi.</a:t>
            </a:r>
          </a:p>
          <a:p>
            <a:pPr marL="0" indent="0">
              <a:buNone/>
            </a:pPr>
            <a:r>
              <a:rPr lang="uz-Latn-UZ" dirty="0">
                <a:latin typeface="Times New Roman" panose="02020603050405020304" pitchFamily="18" charset="0"/>
                <a:cs typeface="Times New Roman" panose="02020603050405020304" pitchFamily="18" charset="0"/>
              </a:rPr>
              <a:t>Avtomobil yo‘llarini ta’mirlash va texnik xizmat ko‘rsatish jarayonlari murakkab va ko‘p bosqichli bo‘lib, turli muammolarni hal qilish, kerakli ta’mirlash ishlari va texnik xizmatlarni bajarish uchun maxsus bilim va ko‘nikmalarni talab etadi. Mazkur ishning asosiy maqsadi avtomobil yo‘llarini ta’mirlash va texnik xizmat ko‘rsatishning umumiy tushunchalarini ochib berish, shu bilan birga ularning ahamiyati va bajarilishi kerak bo‘lgan ishlarga oid asosiy yondashuvlarni tahlil qilishdir.</a:t>
            </a:r>
          </a:p>
          <a:p>
            <a:pPr marL="0" indent="0">
              <a:buNone/>
            </a:pPr>
            <a:r>
              <a:rPr lang="uz-Latn-UZ" dirty="0">
                <a:latin typeface="Times New Roman" panose="02020603050405020304" pitchFamily="18" charset="0"/>
                <a:cs typeface="Times New Roman" panose="02020603050405020304" pitchFamily="18" charset="0"/>
              </a:rPr>
              <a:t>Avtomobil yo‘llarining muntazam ta’miri va texnik xizmat ko‘rsatishning ahamiyati juda katta. Bu nafaqat transport harakatining xavfsizligini ta’minlaydi, balki iqtisodiy samaradorlikni ham oshiradi. Yaxshi holatda bo‘lgan yo‘l transport vositalarining tez va xavfsiz harakatlanishini ta’minlaydi, yo‘l-transport hodisalarining kamayishiga yordam beradi va yo‘llarning uzoq muddat ishlashiga imkon beradi.</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5912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497E4B6-5E6F-03E5-67DF-62F4D0D9C657}"/>
              </a:ext>
            </a:extLst>
          </p:cNvPr>
          <p:cNvSpPr>
            <a:spLocks noGrp="1"/>
          </p:cNvSpPr>
          <p:nvPr>
            <p:ph idx="1"/>
          </p:nvPr>
        </p:nvSpPr>
        <p:spPr>
          <a:xfrm>
            <a:off x="677334" y="809897"/>
            <a:ext cx="8596668" cy="5231465"/>
          </a:xfrm>
        </p:spPr>
        <p:txBody>
          <a:bodyPr>
            <a:normAutofit lnSpcReduction="10000"/>
          </a:bodyPr>
          <a:lstStyle/>
          <a:p>
            <a:pPr marL="0" indent="0">
              <a:buNone/>
            </a:pPr>
            <a:r>
              <a:rPr lang="uz-Latn-UZ" dirty="0">
                <a:latin typeface="Times New Roman" panose="02020603050405020304" pitchFamily="18" charset="0"/>
                <a:cs typeface="Times New Roman" panose="02020603050405020304" pitchFamily="18" charset="0"/>
              </a:rPr>
              <a:t>Avtomobil yo‘llarini ta’mirlash — bu yo‘lning asosiy qurilish, to‘sinlar, yo‘l belgilarini va boshqa infratuzilma qismlarining texnik holatini tiklash, ularni ishlash muddatini uzaytirish va xavfsizlikni ta’minlash uchun amalga oshiriladigan ishlar majmuasidir. Yo‘l ta’mirining maqsadi yo‘lning foydalanishga yaroqsiz holga kelishining oldini olish, yo‘lning shikastlangan qismlarini tiklash, shuningdek, vaqt o‘tishi bilan yuzaga kelgan eskirishni bartaraf etishdan iborat.Avtomobil yo‘llarining ta’mirlanishi ikki asosiy yo‘nalishda amalga oshiriladi:</a:t>
            </a:r>
            <a:r>
              <a:rPr lang="uz-Latn-UZ" b="1" dirty="0">
                <a:latin typeface="Times New Roman" panose="02020603050405020304" pitchFamily="18" charset="0"/>
                <a:cs typeface="Times New Roman" panose="02020603050405020304" pitchFamily="18" charset="0"/>
              </a:rPr>
              <a:t>Rekonstruksiya</a:t>
            </a:r>
            <a:r>
              <a:rPr lang="uz-Latn-UZ" dirty="0">
                <a:latin typeface="Times New Roman" panose="02020603050405020304" pitchFamily="18" charset="0"/>
                <a:cs typeface="Times New Roman" panose="02020603050405020304" pitchFamily="18" charset="0"/>
              </a:rPr>
              <a:t>: Bu yo‘lning qurilishidan keyingi holatini yaxshilash maqsadida amalga oshiriladigan keng ko‘lamli ishlardir. Rekonstruksiya yo‘lning ishlashini samarali qilish va uning xizmat muddatini uzaytirishga qaratilgan.</a:t>
            </a:r>
            <a:r>
              <a:rPr lang="uz-Latn-UZ" b="1" dirty="0">
                <a:latin typeface="Times New Roman" panose="02020603050405020304" pitchFamily="18" charset="0"/>
                <a:cs typeface="Times New Roman" panose="02020603050405020304" pitchFamily="18" charset="0"/>
              </a:rPr>
              <a:t>Kengaytirish</a:t>
            </a:r>
            <a:r>
              <a:rPr lang="uz-Latn-UZ" dirty="0">
                <a:latin typeface="Times New Roman" panose="02020603050405020304" pitchFamily="18" charset="0"/>
                <a:cs typeface="Times New Roman" panose="02020603050405020304" pitchFamily="18" charset="0"/>
              </a:rPr>
              <a:t>: Yo‘lning mavjud imkoniyatlarini oshirish uchun uning kengligini, qismlarini yaxshilash va transport oqimining hajmini ko‘paytirish maqsadida amalga oshiriladigan ta’mirlash ishlari.Ta’mir jarayonida eng ko‘p uchraydigan ishlarga quyidagilar kiradi:</a:t>
            </a:r>
            <a:r>
              <a:rPr lang="uz-Latn-UZ" b="1" dirty="0">
                <a:latin typeface="Times New Roman" panose="02020603050405020304" pitchFamily="18" charset="0"/>
                <a:cs typeface="Times New Roman" panose="02020603050405020304" pitchFamily="18" charset="0"/>
              </a:rPr>
              <a:t>Asfalt-beton qoplamasining yangilanib borishi</a:t>
            </a:r>
            <a:r>
              <a:rPr lang="uz-Latn-UZ" dirty="0">
                <a:latin typeface="Times New Roman" panose="02020603050405020304" pitchFamily="18" charset="0"/>
                <a:cs typeface="Times New Roman" panose="02020603050405020304" pitchFamily="18" charset="0"/>
              </a:rPr>
              <a:t>: Yo‘llarda asfalt-beton qoplamasi vaqt o‘tishi bilan eskiradi va buziladi. Shuning uchun asfaltning yangi qatlamlarini qo‘llash zarur.</a:t>
            </a:r>
            <a:r>
              <a:rPr lang="uz-Latn-UZ" b="1" dirty="0">
                <a:latin typeface="Times New Roman" panose="02020603050405020304" pitchFamily="18" charset="0"/>
                <a:cs typeface="Times New Roman" panose="02020603050405020304" pitchFamily="18" charset="0"/>
              </a:rPr>
              <a:t>Beton yo‘l qoplamasining ta’miri</a:t>
            </a:r>
            <a:r>
              <a:rPr lang="uz-Latn-UZ" dirty="0">
                <a:latin typeface="Times New Roman" panose="02020603050405020304" pitchFamily="18" charset="0"/>
                <a:cs typeface="Times New Roman" panose="02020603050405020304" pitchFamily="18" charset="0"/>
              </a:rPr>
              <a:t>: Beton yo‘llar ham deyarli har doim ta’mirni talab qiladi, chunki ular ham yirtilishi va shikastlanishi mumkin.</a:t>
            </a:r>
            <a:r>
              <a:rPr lang="uz-Latn-UZ" b="1" dirty="0">
                <a:latin typeface="Times New Roman" panose="02020603050405020304" pitchFamily="18" charset="0"/>
                <a:cs typeface="Times New Roman" panose="02020603050405020304" pitchFamily="18" charset="0"/>
              </a:rPr>
              <a:t>Yo‘l tuzilishining tiklanishi</a:t>
            </a:r>
            <a:r>
              <a:rPr lang="uz-Latn-UZ" dirty="0">
                <a:latin typeface="Times New Roman" panose="02020603050405020304" pitchFamily="18" charset="0"/>
                <a:cs typeface="Times New Roman" panose="02020603050405020304" pitchFamily="18" charset="0"/>
              </a:rPr>
              <a:t>: Yo‘lning qoplama qatlamidan tashqari, uning asosiy tuzilmasi ham ta’mirlanishi yoki yangilanishi kerak bo‘ladi.</a:t>
            </a:r>
            <a:r>
              <a:rPr lang="uz-Latn-UZ" b="1" dirty="0">
                <a:latin typeface="Times New Roman" panose="02020603050405020304" pitchFamily="18" charset="0"/>
                <a:cs typeface="Times New Roman" panose="02020603050405020304" pitchFamily="18" charset="0"/>
              </a:rPr>
              <a:t>O‘tkazgichlar va yo‘l yoritish tizimlarini yangilash</a:t>
            </a:r>
            <a:r>
              <a:rPr lang="uz-Latn-UZ" dirty="0">
                <a:latin typeface="Times New Roman" panose="02020603050405020304" pitchFamily="18" charset="0"/>
                <a:cs typeface="Times New Roman" panose="02020603050405020304" pitchFamily="18" charset="0"/>
              </a:rPr>
              <a:t>: O‘tkazgichlar, yo‘l yoritish tizimlari va signalizatsiya kabi yo‘lning xavfsizligi uchun muhim elementlar ham muntazam ravishda yangilanishi yoki ta’mirlanishi zarur.</a:t>
            </a:r>
          </a:p>
          <a:p>
            <a:pPr marL="0" indent="0">
              <a:buNone/>
            </a:pPr>
            <a:endParaRPr lang="ru-RU" dirty="0"/>
          </a:p>
        </p:txBody>
      </p:sp>
    </p:spTree>
    <p:extLst>
      <p:ext uri="{BB962C8B-B14F-4D97-AF65-F5344CB8AC3E}">
        <p14:creationId xmlns:p14="http://schemas.microsoft.com/office/powerpoint/2010/main" val="2463248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0AEBE14-852C-41CE-00F6-A1A2FB7FB453}"/>
              </a:ext>
            </a:extLst>
          </p:cNvPr>
          <p:cNvSpPr>
            <a:spLocks noGrp="1"/>
          </p:cNvSpPr>
          <p:nvPr>
            <p:ph idx="1"/>
          </p:nvPr>
        </p:nvSpPr>
        <p:spPr>
          <a:xfrm>
            <a:off x="677334" y="714103"/>
            <a:ext cx="8596668" cy="5327259"/>
          </a:xfrm>
        </p:spPr>
        <p:txBody>
          <a:bodyPr>
            <a:normAutofit fontScale="77500" lnSpcReduction="20000"/>
          </a:bodyPr>
          <a:lstStyle/>
          <a:p>
            <a:pPr marL="0" indent="0">
              <a:buNone/>
            </a:pPr>
            <a:r>
              <a:rPr lang="uz-Latn-UZ" sz="2200" dirty="0">
                <a:latin typeface="Times New Roman" panose="02020603050405020304" pitchFamily="18" charset="0"/>
                <a:cs typeface="Times New Roman" panose="02020603050405020304" pitchFamily="18" charset="0"/>
              </a:rPr>
              <a:t>Texnik xizmat ko‘rsatish, avtomobil yo‘llarining davomli va xavfsiz ishlashini ta’minlash uchun muhim ahamiyatga ega. Texnik xizmat — bu yo‘lning ishlash holatini muntazam ravishda nazorat qilish, texnik xatoliklar va nosozliklarni tezda bartaraf etish, shu bilan birga zaruriy texnik choralarni ko‘rish jarayonidir. Texnik xizmat ko‘rsatish jarayonida quyidagi ishlarga alohida e’tibor qaratiladi:</a:t>
            </a:r>
          </a:p>
          <a:p>
            <a:pPr marL="0" indent="0">
              <a:buNone/>
            </a:pPr>
            <a:r>
              <a:rPr lang="uz-Latn-UZ" sz="2200" b="1" dirty="0">
                <a:latin typeface="Times New Roman" panose="02020603050405020304" pitchFamily="18" charset="0"/>
                <a:cs typeface="Times New Roman" panose="02020603050405020304" pitchFamily="18" charset="0"/>
              </a:rPr>
              <a:t>Yo‘lning yuzasini tozalash</a:t>
            </a:r>
            <a:r>
              <a:rPr lang="uz-Latn-UZ" sz="2200" dirty="0">
                <a:latin typeface="Times New Roman" panose="02020603050405020304" pitchFamily="18" charset="0"/>
                <a:cs typeface="Times New Roman" panose="02020603050405020304" pitchFamily="18" charset="0"/>
              </a:rPr>
              <a:t>: Yo‘lning sirtini tozalash va uning toza holatda saqlanishi uchun muntazam ravishda ishlov berish zarur. Bunga yo‘lni qishda qor va muzdan tozalash, asfaltning buzilgan qismlarini patch qilish va h.k. kiradi.</a:t>
            </a:r>
          </a:p>
          <a:p>
            <a:pPr marL="0" indent="0">
              <a:buNone/>
            </a:pPr>
            <a:r>
              <a:rPr lang="uz-Latn-UZ" sz="2200" b="1" dirty="0">
                <a:latin typeface="Times New Roman" panose="02020603050405020304" pitchFamily="18" charset="0"/>
                <a:cs typeface="Times New Roman" panose="02020603050405020304" pitchFamily="18" charset="0"/>
              </a:rPr>
              <a:t>Yo‘l belgilarini yangilash</a:t>
            </a:r>
            <a:r>
              <a:rPr lang="uz-Latn-UZ" sz="2200" dirty="0">
                <a:latin typeface="Times New Roman" panose="02020603050405020304" pitchFamily="18" charset="0"/>
                <a:cs typeface="Times New Roman" panose="02020603050405020304" pitchFamily="18" charset="0"/>
              </a:rPr>
              <a:t>: Yo‘l belgilarining vaqt o‘tishi bilan ko‘rinishining pasayishi va shikastlanishi mumkin. Shuning uchun, yo‘l belgilari, yoritgichlar va signalizatsiyalarni doimiy ravishda yangilab turish zarur.</a:t>
            </a:r>
          </a:p>
          <a:p>
            <a:pPr marL="0" indent="0">
              <a:buNone/>
            </a:pPr>
            <a:r>
              <a:rPr lang="uz-Latn-UZ" sz="2200" b="1" dirty="0">
                <a:latin typeface="Times New Roman" panose="02020603050405020304" pitchFamily="18" charset="0"/>
                <a:cs typeface="Times New Roman" panose="02020603050405020304" pitchFamily="18" charset="0"/>
              </a:rPr>
              <a:t>Drenaj tizimlarini tekshirish</a:t>
            </a:r>
            <a:r>
              <a:rPr lang="uz-Latn-UZ" sz="2200" dirty="0">
                <a:latin typeface="Times New Roman" panose="02020603050405020304" pitchFamily="18" charset="0"/>
                <a:cs typeface="Times New Roman" panose="02020603050405020304" pitchFamily="18" charset="0"/>
              </a:rPr>
              <a:t>: Yo‘lning yomon ishlashiga olib keladigan asosiy sabablardan biri – drenaj tizimlarining to‘lib ketishi yoki shikastlanishidir. Shu sababli, drenaj tizimlarini muntazam ravishda tekshirib borish va ularning samarali ishlashini ta’minlash zarur.</a:t>
            </a:r>
          </a:p>
          <a:p>
            <a:pPr marL="0" indent="0">
              <a:buNone/>
            </a:pPr>
            <a:r>
              <a:rPr lang="uz-Latn-UZ" sz="2200" b="1" dirty="0">
                <a:latin typeface="Times New Roman" panose="02020603050405020304" pitchFamily="18" charset="0"/>
                <a:cs typeface="Times New Roman" panose="02020603050405020304" pitchFamily="18" charset="0"/>
              </a:rPr>
              <a:t>Yo‘l yuzasining bo‘shliqlarini to‘ldirish</a:t>
            </a:r>
            <a:r>
              <a:rPr lang="uz-Latn-UZ" sz="2200" dirty="0">
                <a:latin typeface="Times New Roman" panose="02020603050405020304" pitchFamily="18" charset="0"/>
                <a:cs typeface="Times New Roman" panose="02020603050405020304" pitchFamily="18" charset="0"/>
              </a:rPr>
              <a:t>: Asfalt va beton yo‘l qoplamalaridagi bo‘shliqlarni va yoriqlarni to‘ldirish, yo‘lning yuzasini tiklash va uning ishlash muddatini uzaytirishga yordam beradi.</a:t>
            </a:r>
          </a:p>
          <a:p>
            <a:pPr marL="0" indent="0">
              <a:buNone/>
            </a:pPr>
            <a:r>
              <a:rPr lang="uz-Latn-UZ" sz="2200" b="1" dirty="0">
                <a:latin typeface="Times New Roman" panose="02020603050405020304" pitchFamily="18" charset="0"/>
                <a:cs typeface="Times New Roman" panose="02020603050405020304" pitchFamily="18" charset="0"/>
              </a:rPr>
              <a:t>Suv o‘tkazuvchanlikni ta’minlash</a:t>
            </a:r>
            <a:r>
              <a:rPr lang="uz-Latn-UZ" sz="2200" dirty="0">
                <a:latin typeface="Times New Roman" panose="02020603050405020304" pitchFamily="18" charset="0"/>
                <a:cs typeface="Times New Roman" panose="02020603050405020304" pitchFamily="18" charset="0"/>
              </a:rPr>
              <a:t>: Yo‘l yuzasidagi suvning to‘planishi va undan keyingi harakatlanishi ta’mirning asosiy yo‘nalishlaridan biridir. Suv o‘tkazuvchanlikni tiklash va to‘siqlarning oldini olish maqsadida yuvish, drenaslar va boshqa mexanizmalarni tekshirish lozim.</a:t>
            </a:r>
          </a:p>
          <a:p>
            <a:pPr marL="0" indent="0">
              <a:buNone/>
            </a:pPr>
            <a:endParaRPr lang="ru-RU" dirty="0"/>
          </a:p>
        </p:txBody>
      </p:sp>
    </p:spTree>
    <p:extLst>
      <p:ext uri="{BB962C8B-B14F-4D97-AF65-F5344CB8AC3E}">
        <p14:creationId xmlns:p14="http://schemas.microsoft.com/office/powerpoint/2010/main" val="4222233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9EB8415-7FCF-D85C-B867-A6BE7B65C288}"/>
              </a:ext>
            </a:extLst>
          </p:cNvPr>
          <p:cNvSpPr>
            <a:spLocks noGrp="1"/>
          </p:cNvSpPr>
          <p:nvPr>
            <p:ph idx="1"/>
          </p:nvPr>
        </p:nvSpPr>
        <p:spPr>
          <a:xfrm>
            <a:off x="677334" y="592183"/>
            <a:ext cx="8596668" cy="5449179"/>
          </a:xfrm>
        </p:spPr>
        <p:txBody>
          <a:bodyPr>
            <a:normAutofit fontScale="92500" lnSpcReduction="10000"/>
          </a:bodyPr>
          <a:lstStyle/>
          <a:p>
            <a:r>
              <a:rPr lang="uz-Latn-UZ" dirty="0">
                <a:latin typeface="Times New Roman" panose="02020603050405020304" pitchFamily="18" charset="0"/>
                <a:cs typeface="Times New Roman" panose="02020603050405020304" pitchFamily="18" charset="0"/>
              </a:rPr>
              <a:t>Avtomobil yo‘llarining samarali ishlashi va uzoq muddatli xizmat ko‘rsatishi, albatta, ularning muntazam ta’mirlanishiga bog‘liq. Yo‘llar har kuni o‘nlab yoki yuzlab transport vositalari tomonidan foydalaniladi va shuning uchun ular vaqt o‘tishi bilan eskiradi, shikastlanadi yoki ifloslanadi. Avtomobil yo‘llarini ta’mirlash jarayoni esa ko‘plab texnik qoidalar va normativlarga asoslanadi. Ta’mir jarayoni nafaqat yo‘lning tashqi ko‘rinishini tiklashni, balki uning ishlash muddatini uzaytirish, xavfsizligini oshirish va transportning harakatini soddalashtirishni ham o‘z ichiga oladi.</a:t>
            </a:r>
          </a:p>
          <a:p>
            <a:r>
              <a:rPr lang="uz-Latn-UZ" dirty="0">
                <a:latin typeface="Times New Roman" panose="02020603050405020304" pitchFamily="18" charset="0"/>
                <a:cs typeface="Times New Roman" panose="02020603050405020304" pitchFamily="18" charset="0"/>
              </a:rPr>
              <a:t>Yo‘l ta’miri, ko‘plab omillarni hisobga olgan holda, professional yondashuvni talab qiladi. Yo‘lning turli qismlarida amalga oshiriladigan ishlarga aniq texnik qoidalar, standartlar va tavsiyalar belgilangan. Ushbu maqolada avtomobil yo‘llarini ta’mirlashning texnik qoidalari, amalda qo‘llaniladigan standartlar va ular asosida bajariladigan ishlar to‘g‘risida batafsil ma'lumot beriladi.</a:t>
            </a:r>
          </a:p>
          <a:p>
            <a:r>
              <a:rPr lang="uz-Latn-UZ" dirty="0">
                <a:latin typeface="Times New Roman" panose="02020603050405020304" pitchFamily="18" charset="0"/>
                <a:cs typeface="Times New Roman" panose="02020603050405020304" pitchFamily="18" charset="0"/>
              </a:rPr>
              <a:t>Zamonaviy yo‘l ta’miri jarayonlarida ekologik jihatlarga e'tibor qaratish muhimdir. Eko-texnologiyalar yordamida asfaltni qayta ishlash, chiqindilarni kamaytirish va energiya samaradorligini oshirish mumkin. Masalan, asfaltni qayta ishlash usullari va ekologik toza materiallardan foydalanish orqali atrof-muhitga zarar etkazmaslikka harakat qilinadi.Shuningdek, yangi texnologiyalar va ilmiy tadqiqotlar yordamida yo‘l ta’mirining ekologik izlarini kamaytirish bo‘yicha takliflar ishlab chiqilmoqda. Ushbu usullar yo‘l ta’miri jarayonida mavjud chiqindilarni qayta ishlash va materiallarning samaradorligini oshirishga qaratilgan.</a:t>
            </a:r>
          </a:p>
          <a:p>
            <a:pPr marL="0" indent="0">
              <a:buNone/>
            </a:pPr>
            <a:endParaRPr lang="ru-RU" dirty="0"/>
          </a:p>
        </p:txBody>
      </p:sp>
    </p:spTree>
    <p:extLst>
      <p:ext uri="{BB962C8B-B14F-4D97-AF65-F5344CB8AC3E}">
        <p14:creationId xmlns:p14="http://schemas.microsoft.com/office/powerpoint/2010/main" val="1087582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61EC895-79EE-20FC-4BFD-3D8184B1A249}"/>
              </a:ext>
            </a:extLst>
          </p:cNvPr>
          <p:cNvSpPr>
            <a:spLocks noGrp="1"/>
          </p:cNvSpPr>
          <p:nvPr>
            <p:ph idx="1"/>
          </p:nvPr>
        </p:nvSpPr>
        <p:spPr>
          <a:xfrm>
            <a:off x="677334" y="748937"/>
            <a:ext cx="8596668" cy="5292425"/>
          </a:xfrm>
        </p:spPr>
        <p:txBody>
          <a:bodyPr>
            <a:normAutofit lnSpcReduction="10000"/>
          </a:bodyPr>
          <a:lstStyle/>
          <a:p>
            <a:pPr marL="0" indent="0">
              <a:buNone/>
            </a:pPr>
            <a:r>
              <a:rPr lang="uz-Latn-UZ" dirty="0">
                <a:latin typeface="Times New Roman" panose="02020603050405020304" pitchFamily="18" charset="0"/>
                <a:cs typeface="Times New Roman" panose="02020603050405020304" pitchFamily="18" charset="0"/>
              </a:rPr>
              <a:t>Avtomobil yo‘llarini ta’mirlashning asosiy maqsadi yo‘lning xavfsizligini ta'minlash, transport oqimining samarali harakatini qo‘llab-quvvatlash va yo‘lning xizmat muddatini uzaytirishdir. Yo‘lning asosiy qismida, masalan, asfalt-beton qoplamasida yuzaga keladigan shikastlanishlar, yoriqlar, bo‘shliqlar va chuqurchalar vaqt o‘tishi bilan avariyalar, transport vositalarining nosoz ishlashiga va yo‘llarning ishlash muddatining qisqarishiga olib keladi. Shuning uchun ta’mirlash ishlari ushbu muammolarni bartaraf etish va yo‘lning funksional imkoniyatlarini tiklashga qaratilgan bo‘ladi.Avtomobil yo‘llarini ta’mirlash jarayoni bir nechta bosqichdan iborat bo‘lib, har bir bosqichda aniq texnik qoidalar va amaliyotlar mavjud. </a:t>
            </a:r>
          </a:p>
          <a:p>
            <a:pPr marL="0" indent="0">
              <a:buNone/>
            </a:pPr>
            <a:r>
              <a:rPr lang="uz-Latn-UZ" dirty="0">
                <a:latin typeface="Times New Roman" panose="02020603050405020304" pitchFamily="18" charset="0"/>
                <a:cs typeface="Times New Roman" panose="02020603050405020304" pitchFamily="18" charset="0"/>
              </a:rPr>
              <a:t>Yo‘lni ta’mirlashdan oldin, uning holatini diqqat bilan tekshirish zarur. Bu jarayon yo‘lning asfalt-beton qoplamasidagi yoriqlar, chuqurchalar, shikastlangan va eskirgan qismlarini aniqlashni o‘z ichiga oladi. Diagnoz qilishda maxsus o‘lchov uskunalari va metodologiyalardan foydalaniladi. Shuningdek, yo‘lning asosiy qatlamlaridagi nuqsonlarni aniqlash ham zarur, chunki ba'zi holatlarda yo‘lning faqat yuzasini ta’mirlash emas, balki uning asosiy qatlamini tiklash ham talab qilinadi.</a:t>
            </a:r>
          </a:p>
          <a:p>
            <a:pPr marL="0" indent="0">
              <a:buNone/>
            </a:pPr>
            <a:r>
              <a:rPr lang="uz-Latn-UZ" dirty="0">
                <a:latin typeface="Times New Roman" panose="02020603050405020304" pitchFamily="18" charset="0"/>
                <a:cs typeface="Times New Roman" panose="02020603050405020304" pitchFamily="18" charset="0"/>
              </a:rPr>
              <a:t>Yo‘lni ta’mirlashda ishlatiladigan materiallar sifatiga katta e'tibor qaratish lozim. Asfalt, beton, agregatlar va kimyoviy qo‘shimchalar kabi materiallar standartlarga mos bo‘lishi kerak. Asfalt-beton materiallari turli haroratlarda va sharoitlarda ishlashga moslashtirilgan bo‘lishi zarur. Misol uchun, qishda ishlatiladigan asfalt aralashmalari turli kimyoviy qo‘shimchalar bilan mustahkamlanadi</a:t>
            </a:r>
            <a:r>
              <a:rPr lang="en-US" dirty="0">
                <a:latin typeface="Times New Roman" panose="02020603050405020304" pitchFamily="18" charset="0"/>
                <a:cs typeface="Times New Roman" panose="02020603050405020304" pitchFamily="18" charset="0"/>
              </a:rPr>
              <a:t>.</a:t>
            </a:r>
            <a:endParaRPr lang="uz-Latn-UZ" dirty="0">
              <a:latin typeface="Times New Roman" panose="02020603050405020304" pitchFamily="18" charset="0"/>
              <a:cs typeface="Times New Roman" panose="02020603050405020304" pitchFamily="18" charset="0"/>
            </a:endParaRPr>
          </a:p>
          <a:p>
            <a:pPr marL="0" indent="0">
              <a:buNone/>
            </a:pPr>
            <a:endParaRPr lang="ru-RU" dirty="0"/>
          </a:p>
        </p:txBody>
      </p:sp>
    </p:spTree>
    <p:extLst>
      <p:ext uri="{BB962C8B-B14F-4D97-AF65-F5344CB8AC3E}">
        <p14:creationId xmlns:p14="http://schemas.microsoft.com/office/powerpoint/2010/main" val="4277836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277C2FA-D099-3DB5-2A9F-E1C71FDE5663}"/>
              </a:ext>
            </a:extLst>
          </p:cNvPr>
          <p:cNvSpPr>
            <a:spLocks noGrp="1"/>
          </p:cNvSpPr>
          <p:nvPr>
            <p:ph idx="1"/>
          </p:nvPr>
        </p:nvSpPr>
        <p:spPr>
          <a:xfrm>
            <a:off x="677334" y="722811"/>
            <a:ext cx="8596668" cy="5318551"/>
          </a:xfrm>
        </p:spPr>
        <p:txBody>
          <a:bodyPr>
            <a:normAutofit fontScale="92500" lnSpcReduction="20000"/>
          </a:bodyPr>
          <a:lstStyle/>
          <a:p>
            <a:pPr marL="0" indent="0">
              <a:buNone/>
            </a:pPr>
            <a:r>
              <a:rPr lang="uz-Latn-UZ" dirty="0">
                <a:latin typeface="Times New Roman" panose="02020603050405020304" pitchFamily="18" charset="0"/>
                <a:cs typeface="Times New Roman" panose="02020603050405020304" pitchFamily="18" charset="0"/>
              </a:rPr>
              <a:t>Yo‘lni ta’mirlashda asosiy ishlar asfalt va beton qatlamlarining yangilanishi yoki ta’mirlanishiga qaratiladi. Asfalt qatlamlarini tiklash uchun asfalt-beton qoplamasining mavjud qatlamlarini to‘g‘ri tayyorlash va uni yangilash talab etiladi. Beton yo‘llarda esa, ta’mirlash jarayoni asosan betonning yoriqlari va bo‘shliqlarini to‘ldirish va shu bilan birga, mustahkamlash ishlari bilan bog‘liqdir.Yuzaki ta’mirlar yo‘lning tashqi qismlarini tiklashga qaratilgan bo‘lib, asosan asfalt-beton qoplamasidagi chuqurchalar, yoriqlar va boshqa nuqsonlarni tuzatishdan iboratdir. Bu jarayonda asfaltning yuqori qatlamlari yangi asfalt bilan almashtiriladi yoki ta'mirlanadi. Yoriqlarni to‘ldirish va bo‘shliqlarni tiklash uchun maxsus bitum yoki asfalt-beton aralashmalari ishlatiladi.Chuqur ta’mirlash esa ko‘proq jiddiy nuqsonlarni bartaraf etishga qaratilgan. Bu jarayonda yo‘lning qoplamasi va asosiy qatlamlari orasidagi aloqani tiklash, chuqurlashgan yoriqlarni to‘ldirish va beton qatlamlarini yaxshilash ishlari amalga oshiriladi. Chuqur ta’mirlash jarayonlari murakkabroq bo‘lib, maxsus texnik jihozlar va materiallarni talab qiladi.Avtomobil yo‘llarini ta’mirlashda texnik qoidalar va normativlar katta ahamiyatga ega. Har bir ishlov berish usuli va materiallar uchun o‘ziga xos standartlar belgilangan. Quyidagi texnik qoidalar yo‘l ta’miri uchun asosiy qo‘llanmalar hisoblanadi:Yo‘l ta’miri jarayonida har bir ishning sifatini tekshirish zarur. Asphalt-beton aralashmalarining siqilish ko‘rsatkichlari, suyuqlikni o‘zlashtirish darajasi va issiqlikka chidamliligi testdan o‘tkaziladi. Beton qatlamlarining mustahkamligini aniqlash uchun maxsus qurilmalar yordamida o‘lchovlar amalga oshiriladi.Ta’mir ishlari jarayonida ishchilarning xavfsizligi va sog‘lig‘i uchun alohida e'tibor qaratilishi kerak. Maxsus ish kiyimlari, xavfsizlik belgilari va jihozlaridan foydalanish ta'minlanadi. Shuningdek, ish joylarida tozalash, changni kamaytirish va boshqa xavf-xatarlarni bartaraf etish uchun zarur choralar ko‘riladi.Yo‘l ta’miri materiallari, shu jumladan asfalt, beton, agregatlar va qo‘shimchalar, mahalliy va xalqaro standartlarga muvofiq bo‘lishi kerak. Masalan, asfalt uchun o‘rnatilgan temperaturali ish sharoitlari, beton aralashmalari uchun suvni o‘zlashtirish ko‘rsatkichlari va boshqa texnik xususiyatlar aniq belgilangan.</a:t>
            </a:r>
          </a:p>
          <a:p>
            <a:pPr marL="0" indent="0">
              <a:buNone/>
            </a:pPr>
            <a:endParaRPr lang="ru-RU" dirty="0"/>
          </a:p>
        </p:txBody>
      </p:sp>
    </p:spTree>
    <p:extLst>
      <p:ext uri="{BB962C8B-B14F-4D97-AF65-F5344CB8AC3E}">
        <p14:creationId xmlns:p14="http://schemas.microsoft.com/office/powerpoint/2010/main" val="2423603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686E4A7-177D-BD93-7656-F84C1B950854}"/>
              </a:ext>
            </a:extLst>
          </p:cNvPr>
          <p:cNvSpPr>
            <a:spLocks noGrp="1"/>
          </p:cNvSpPr>
          <p:nvPr>
            <p:ph idx="1"/>
          </p:nvPr>
        </p:nvSpPr>
        <p:spPr>
          <a:xfrm>
            <a:off x="677334" y="801189"/>
            <a:ext cx="8596668" cy="5240173"/>
          </a:xfrm>
        </p:spPr>
        <p:txBody>
          <a:bodyPr>
            <a:normAutofit fontScale="92500" lnSpcReduction="20000"/>
          </a:bodyPr>
          <a:lstStyle/>
          <a:p>
            <a:pPr marL="0" indent="0">
              <a:buNone/>
            </a:pPr>
            <a:r>
              <a:rPr lang="uz-Latn-UZ" dirty="0">
                <a:latin typeface="Times New Roman" panose="02020603050405020304" pitchFamily="18" charset="0"/>
                <a:cs typeface="Times New Roman" panose="02020603050405020304" pitchFamily="18" charset="0"/>
              </a:rPr>
              <a:t>Avtomobil yo‘llarining uzoq muddat xizmat qilishi uchun belgilangan yuklash limitlariga rioya qilish zarur. Ammo, ko‘p hollarda yo‘llar haddan tashqari yuklanadi, bu esa yo‘lning qoplamasining tezda eskirishi va shikastlanishiga olib keladi. Yuk tashuvchi transport vositalarining og‘irligi yo‘lning asfalt-beton qoplamasini tezda buzadi, bu esa yoriqlar, chuqurchalar va boshqa nuqsonlarning yuzaga kelishiga sabab bo‘ladi.</a:t>
            </a:r>
          </a:p>
          <a:p>
            <a:pPr marL="0" indent="0">
              <a:buNone/>
            </a:pPr>
            <a:r>
              <a:rPr lang="en-US" b="1" dirty="0">
                <a:latin typeface="Times New Roman" panose="02020603050405020304" pitchFamily="18" charset="0"/>
                <a:cs typeface="Times New Roman" panose="02020603050405020304" pitchFamily="18" charset="0"/>
              </a:rPr>
              <a:t>                                                    </a:t>
            </a:r>
            <a:r>
              <a:rPr lang="uz-Latn-UZ" b="1" dirty="0">
                <a:latin typeface="Times New Roman" panose="02020603050405020304" pitchFamily="18" charset="0"/>
                <a:cs typeface="Times New Roman" panose="02020603050405020304" pitchFamily="18" charset="0"/>
              </a:rPr>
              <a:t>Muammo:</a:t>
            </a:r>
          </a:p>
          <a:p>
            <a:pPr marL="0" indent="0">
              <a:buNone/>
            </a:pPr>
            <a:r>
              <a:rPr lang="uz-Latn-UZ" dirty="0">
                <a:latin typeface="Times New Roman" panose="02020603050405020304" pitchFamily="18" charset="0"/>
                <a:cs typeface="Times New Roman" panose="02020603050405020304" pitchFamily="18" charset="0"/>
              </a:rPr>
              <a:t>Yo‘llarning yuqori yuklamadan shikastlanishi</a:t>
            </a:r>
          </a:p>
          <a:p>
            <a:pPr marL="0" indent="0">
              <a:buNone/>
            </a:pPr>
            <a:r>
              <a:rPr lang="uz-Latn-UZ" dirty="0">
                <a:latin typeface="Times New Roman" panose="02020603050405020304" pitchFamily="18" charset="0"/>
                <a:cs typeface="Times New Roman" panose="02020603050405020304" pitchFamily="18" charset="0"/>
              </a:rPr>
              <a:t>Asfalt qoplamasining buzilishi</a:t>
            </a:r>
          </a:p>
          <a:p>
            <a:pPr marL="0" indent="0">
              <a:buNone/>
            </a:pPr>
            <a:r>
              <a:rPr lang="uz-Latn-UZ" dirty="0">
                <a:latin typeface="Times New Roman" panose="02020603050405020304" pitchFamily="18" charset="0"/>
                <a:cs typeface="Times New Roman" panose="02020603050405020304" pitchFamily="18" charset="0"/>
              </a:rPr>
              <a:t>Yoriqlar va chuqurchalarning paydo bo‘lishi</a:t>
            </a:r>
          </a:p>
          <a:p>
            <a:pPr marL="0" indent="0">
              <a:buNone/>
            </a:pPr>
            <a:r>
              <a:rPr lang="en-US" b="1" dirty="0">
                <a:latin typeface="Times New Roman" panose="02020603050405020304" pitchFamily="18" charset="0"/>
                <a:cs typeface="Times New Roman" panose="02020603050405020304" pitchFamily="18" charset="0"/>
              </a:rPr>
              <a:t>                                                   </a:t>
            </a:r>
            <a:r>
              <a:rPr lang="uz-Latn-UZ" b="1" dirty="0">
                <a:latin typeface="Times New Roman" panose="02020603050405020304" pitchFamily="18" charset="0"/>
                <a:cs typeface="Times New Roman" panose="02020603050405020304" pitchFamily="18" charset="0"/>
              </a:rPr>
              <a:t>Yechim:</a:t>
            </a:r>
          </a:p>
          <a:p>
            <a:pPr marL="0" indent="0">
              <a:buNone/>
            </a:pPr>
            <a:r>
              <a:rPr lang="uz-Latn-UZ" b="1" dirty="0">
                <a:latin typeface="Times New Roman" panose="02020603050405020304" pitchFamily="18" charset="0"/>
                <a:cs typeface="Times New Roman" panose="02020603050405020304" pitchFamily="18" charset="0"/>
              </a:rPr>
              <a:t>Maxsus texnik nazorat</a:t>
            </a:r>
            <a:r>
              <a:rPr lang="uz-Latn-UZ" dirty="0">
                <a:latin typeface="Times New Roman" panose="02020603050405020304" pitchFamily="18" charset="0"/>
                <a:cs typeface="Times New Roman" panose="02020603050405020304" pitchFamily="18" charset="0"/>
              </a:rPr>
              <a:t>: Yo‘lning yuk tashish qobiliyatini muntazam ravishda tekshirish va harakatga keltirilgan transport vositalarini nazorat qilish kerak. Yo‘llarda ruxsat etilgan yuklarni belgilovchi belgilarning to‘g‘ri joylashtirilishi zarur.</a:t>
            </a:r>
          </a:p>
          <a:p>
            <a:pPr marL="0" indent="0">
              <a:buNone/>
            </a:pPr>
            <a:r>
              <a:rPr lang="uz-Latn-UZ" b="1" dirty="0">
                <a:latin typeface="Times New Roman" panose="02020603050405020304" pitchFamily="18" charset="0"/>
                <a:cs typeface="Times New Roman" panose="02020603050405020304" pitchFamily="18" charset="0"/>
              </a:rPr>
              <a:t>Yuklarni tartibga solish</a:t>
            </a:r>
            <a:r>
              <a:rPr lang="uz-Latn-UZ" dirty="0">
                <a:latin typeface="Times New Roman" panose="02020603050405020304" pitchFamily="18" charset="0"/>
                <a:cs typeface="Times New Roman" panose="02020603050405020304" pitchFamily="18" charset="0"/>
              </a:rPr>
              <a:t>: Og‘ir yuklarni tashish uchun maxsus yo‘llar va magistrallarni ajratish, ularni muntazam ravishda ta’mirlash zarur. Shuningdek, og‘ir yuklarni tashishning oldini olish uchun yengil va o‘rta yuklarni tashuvchi transport vositalarini rag‘batlantirish lozim.</a:t>
            </a:r>
          </a:p>
          <a:p>
            <a:pPr marL="0" indent="0">
              <a:buNone/>
            </a:pPr>
            <a:r>
              <a:rPr lang="uz-Latn-UZ" b="1" dirty="0">
                <a:latin typeface="Times New Roman" panose="02020603050405020304" pitchFamily="18" charset="0"/>
                <a:cs typeface="Times New Roman" panose="02020603050405020304" pitchFamily="18" charset="0"/>
              </a:rPr>
              <a:t>Yukni taqsimlash tizimini takomillashtirish</a:t>
            </a:r>
            <a:r>
              <a:rPr lang="uz-Latn-UZ" dirty="0">
                <a:latin typeface="Times New Roman" panose="02020603050405020304" pitchFamily="18" charset="0"/>
                <a:cs typeface="Times New Roman" panose="02020603050405020304" pitchFamily="18" charset="0"/>
              </a:rPr>
              <a:t>: Harakatni tartibga solish va qayta qurish ishlarini amalga oshirish orqali yo‘lning yuk tashish qobiliyatini oshirish mumkin. Bu orqali yo‘llarning xizmat muddatini uzaytirish mumkin.</a:t>
            </a:r>
          </a:p>
          <a:p>
            <a:pPr marL="0" indent="0">
              <a:buNone/>
            </a:pPr>
            <a:endParaRPr lang="ru-RU" dirty="0"/>
          </a:p>
        </p:txBody>
      </p:sp>
    </p:spTree>
    <p:extLst>
      <p:ext uri="{BB962C8B-B14F-4D97-AF65-F5344CB8AC3E}">
        <p14:creationId xmlns:p14="http://schemas.microsoft.com/office/powerpoint/2010/main" val="2553061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45AF1AC4-C410-F6D1-40E5-0681FD415777}"/>
              </a:ext>
            </a:extLst>
          </p:cNvPr>
          <p:cNvSpPr>
            <a:spLocks noGrp="1"/>
          </p:cNvSpPr>
          <p:nvPr>
            <p:ph idx="1"/>
          </p:nvPr>
        </p:nvSpPr>
        <p:spPr>
          <a:xfrm>
            <a:off x="677334" y="792481"/>
            <a:ext cx="8596668" cy="5248882"/>
          </a:xfrm>
        </p:spPr>
        <p:txBody>
          <a:bodyPr>
            <a:normAutofit fontScale="92500" lnSpcReduction="20000"/>
          </a:bodyPr>
          <a:lstStyle/>
          <a:p>
            <a:pPr marL="0" indent="0">
              <a:buNone/>
            </a:pPr>
            <a:r>
              <a:rPr lang="uz-Latn-UZ" dirty="0">
                <a:latin typeface="Times New Roman" panose="02020603050405020304" pitchFamily="18" charset="0"/>
                <a:cs typeface="Times New Roman" panose="02020603050405020304" pitchFamily="18" charset="0"/>
              </a:rPr>
              <a:t>Iqlim sharoitlari va tabiiy omillar yo‘lning ishlashiga katta ta’sir ko‘rsatadi. Qish oylari davomida, yo‘llar qor va muzdan tozalash, shuningdek, asfaltning termal o‘zgarmalari, ayniqsa, yuqori va past haroratlar, yo‘lning sifatini pasaytirishi mumkin. Bu holat yo‘l qoplamasining yoriqlanishi va uzoq muddatli shikastlanishiga olib keladi. Shuningdek, kuchli yomg‘irlar yoki sel, yo‘l yuzasining to‘planishini va erishish imkoniyatlarini qiyinlashtiradi.</a:t>
            </a:r>
          </a:p>
          <a:p>
            <a:pPr marL="0" indent="0">
              <a:buNone/>
            </a:pPr>
            <a:r>
              <a:rPr lang="en-US" b="1" dirty="0">
                <a:latin typeface="Times New Roman" panose="02020603050405020304" pitchFamily="18" charset="0"/>
                <a:cs typeface="Times New Roman" panose="02020603050405020304" pitchFamily="18" charset="0"/>
              </a:rPr>
              <a:t>                                                            </a:t>
            </a:r>
            <a:r>
              <a:rPr lang="uz-Latn-UZ" b="1" dirty="0">
                <a:latin typeface="Times New Roman" panose="02020603050405020304" pitchFamily="18" charset="0"/>
                <a:cs typeface="Times New Roman" panose="02020603050405020304" pitchFamily="18" charset="0"/>
              </a:rPr>
              <a:t>Muammo:</a:t>
            </a:r>
          </a:p>
          <a:p>
            <a:pPr>
              <a:buFont typeface="Arial" panose="020B0604020202020204" pitchFamily="34" charset="0"/>
              <a:buChar char="•"/>
            </a:pPr>
            <a:r>
              <a:rPr lang="uz-Latn-UZ" dirty="0">
                <a:latin typeface="Times New Roman" panose="02020603050405020304" pitchFamily="18" charset="0"/>
                <a:cs typeface="Times New Roman" panose="02020603050405020304" pitchFamily="18" charset="0"/>
              </a:rPr>
              <a:t>Qishda muzlash va qor tufayli yo‘lning sirtining shikastlanishi</a:t>
            </a:r>
          </a:p>
          <a:p>
            <a:pPr>
              <a:buFont typeface="Arial" panose="020B0604020202020204" pitchFamily="34" charset="0"/>
              <a:buChar char="•"/>
            </a:pPr>
            <a:r>
              <a:rPr lang="uz-Latn-UZ" dirty="0">
                <a:latin typeface="Times New Roman" panose="02020603050405020304" pitchFamily="18" charset="0"/>
                <a:cs typeface="Times New Roman" panose="02020603050405020304" pitchFamily="18" charset="0"/>
              </a:rPr>
              <a:t>Issiqda asfaltning erishi va uzoq muddatli yoriqlar paydo bo‘lishi</a:t>
            </a:r>
          </a:p>
          <a:p>
            <a:pPr>
              <a:buFont typeface="Arial" panose="020B0604020202020204" pitchFamily="34" charset="0"/>
              <a:buChar char="•"/>
            </a:pPr>
            <a:r>
              <a:rPr lang="uz-Latn-UZ" dirty="0">
                <a:latin typeface="Times New Roman" panose="02020603050405020304" pitchFamily="18" charset="0"/>
                <a:cs typeface="Times New Roman" panose="02020603050405020304" pitchFamily="18" charset="0"/>
              </a:rPr>
              <a:t>Yomg‘ir va suvning yo‘l yuzasiga ta’siri</a:t>
            </a:r>
          </a:p>
          <a:p>
            <a:pPr marL="0" indent="0">
              <a:buNone/>
            </a:pPr>
            <a:r>
              <a:rPr lang="en-US" b="1" dirty="0">
                <a:latin typeface="Times New Roman" panose="02020603050405020304" pitchFamily="18" charset="0"/>
                <a:cs typeface="Times New Roman" panose="02020603050405020304" pitchFamily="18" charset="0"/>
              </a:rPr>
              <a:t>                                                              </a:t>
            </a:r>
            <a:r>
              <a:rPr lang="uz-Latn-UZ" b="1" dirty="0">
                <a:latin typeface="Times New Roman" panose="02020603050405020304" pitchFamily="18" charset="0"/>
                <a:cs typeface="Times New Roman" panose="02020603050405020304" pitchFamily="18" charset="0"/>
              </a:rPr>
              <a:t>Yechim:</a:t>
            </a:r>
          </a:p>
          <a:p>
            <a:pPr>
              <a:buFont typeface="Arial" panose="020B0604020202020204" pitchFamily="34" charset="0"/>
              <a:buChar char="•"/>
            </a:pPr>
            <a:r>
              <a:rPr lang="uz-Latn-UZ" b="1" dirty="0">
                <a:latin typeface="Times New Roman" panose="02020603050405020304" pitchFamily="18" charset="0"/>
                <a:cs typeface="Times New Roman" panose="02020603050405020304" pitchFamily="18" charset="0"/>
              </a:rPr>
              <a:t>Qor va muzdan tozalash tizimlarini yaxshilash</a:t>
            </a:r>
            <a:r>
              <a:rPr lang="uz-Latn-UZ" dirty="0">
                <a:latin typeface="Times New Roman" panose="02020603050405020304" pitchFamily="18" charset="0"/>
                <a:cs typeface="Times New Roman" panose="02020603050405020304" pitchFamily="18" charset="0"/>
              </a:rPr>
              <a:t>: Qish oylarida yo‘llarda qor va muzning to‘planishini oldini olish uchun mexanik tozalash usullaridan foydalanish va maxsus kimyoviy moddalar yordamida muzlatishni bartaraf etish mumkin.</a:t>
            </a:r>
          </a:p>
          <a:p>
            <a:pPr>
              <a:buFont typeface="Arial" panose="020B0604020202020204" pitchFamily="34" charset="0"/>
              <a:buChar char="•"/>
            </a:pPr>
            <a:r>
              <a:rPr lang="uz-Latn-UZ" b="1" dirty="0">
                <a:latin typeface="Times New Roman" panose="02020603050405020304" pitchFamily="18" charset="0"/>
                <a:cs typeface="Times New Roman" panose="02020603050405020304" pitchFamily="18" charset="0"/>
              </a:rPr>
              <a:t>Asfalt materiallarining modifikatsiyasi</a:t>
            </a:r>
            <a:r>
              <a:rPr lang="uz-Latn-UZ" dirty="0">
                <a:latin typeface="Times New Roman" panose="02020603050405020304" pitchFamily="18" charset="0"/>
                <a:cs typeface="Times New Roman" panose="02020603050405020304" pitchFamily="18" charset="0"/>
              </a:rPr>
              <a:t>: Issiq iqlim sharoitlarida asfalt-beton qoplamasining erishiga yo‘l qo‘ymaslik uchun asfalt modifikatorlari va yuqori haroratlarga chidamli materiallardan foydalanish zarur.</a:t>
            </a:r>
          </a:p>
          <a:p>
            <a:pPr>
              <a:buFont typeface="Arial" panose="020B0604020202020204" pitchFamily="34" charset="0"/>
              <a:buChar char="•"/>
            </a:pPr>
            <a:r>
              <a:rPr lang="uz-Latn-UZ" b="1" dirty="0">
                <a:latin typeface="Times New Roman" panose="02020603050405020304" pitchFamily="18" charset="0"/>
                <a:cs typeface="Times New Roman" panose="02020603050405020304" pitchFamily="18" charset="0"/>
              </a:rPr>
              <a:t>Drenaj tizimlarini rivojlantirish</a:t>
            </a:r>
            <a:r>
              <a:rPr lang="uz-Latn-UZ" dirty="0">
                <a:latin typeface="Times New Roman" panose="02020603050405020304" pitchFamily="18" charset="0"/>
                <a:cs typeface="Times New Roman" panose="02020603050405020304" pitchFamily="18" charset="0"/>
              </a:rPr>
              <a:t>: Yo‘l yuzasida suvning to‘planishini oldini olish uchun yangi drenaj tizimlarini o‘rnatish va eskirgan tizimlarni yangilash zarur. Bunda suvni samarali ravishda to‘plash va yo‘l yuzasidan chiqarib yuborish muhim.</a:t>
            </a:r>
          </a:p>
          <a:p>
            <a:pPr marL="0" indent="0">
              <a:buNone/>
            </a:pPr>
            <a:endParaRPr lang="ru-RU" dirty="0"/>
          </a:p>
        </p:txBody>
      </p:sp>
    </p:spTree>
    <p:extLst>
      <p:ext uri="{BB962C8B-B14F-4D97-AF65-F5344CB8AC3E}">
        <p14:creationId xmlns:p14="http://schemas.microsoft.com/office/powerpoint/2010/main" val="1837386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F87EC9-1937-9389-5A02-01BB5A8D7E6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Xulosa</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8481683E-EA74-9FFC-4E45-CF351A44792F}"/>
              </a:ext>
            </a:extLst>
          </p:cNvPr>
          <p:cNvSpPr>
            <a:spLocks noGrp="1"/>
          </p:cNvSpPr>
          <p:nvPr>
            <p:ph idx="1"/>
          </p:nvPr>
        </p:nvSpPr>
        <p:spPr>
          <a:xfrm>
            <a:off x="677334" y="1410789"/>
            <a:ext cx="8596668" cy="4630573"/>
          </a:xfrm>
        </p:spPr>
        <p:txBody>
          <a:bodyPr/>
          <a:lstStyle/>
          <a:p>
            <a:pPr marL="0" indent="0">
              <a:buNone/>
            </a:pPr>
            <a:r>
              <a:rPr lang="uz-Latn-UZ" dirty="0"/>
              <a:t>Avtomobil yo‘llarini ta’mirlash va texnik xizmat ko‘rsatishning asosiy maqsadi yo‘lning xavfsizligini oshirish, transport harakatini muammosiz amalga oshirish va yo‘lni uzoq muddat davomida ishlashini ta'minlashdir. Yo‘l ta’miri va texnik xizmat ko‘rsatishning samarali amalga oshirilishi nafaqat yo‘lning vizual holatini yaxshilaydi, balki transport vositalarining xizmat muddatini uzaytiradi, yo‘lda yuzaga keladigan avariyalar sonini kamaytiradi va iqtisodiy xarajatlarni kamaytiradi. Avtomobil yo‘llarini ta’mirlash va texnik xizmat ko‘rsatish, nafaqat yo‘lning uzoq muddatli ishlashini ta’minlash, balki transport harakati xavfsizligini oshirish va iqtisodiy samaradorlikni oshirishda muhim ahamiyatga ega. Ta’mir ishlari va texnik xizmat ko‘rsatish jarayonlari texnik qoidalarga, standartlarga va ilg‘or texnologiyalarga asoslanishi kerak. Shu bilan birga, ekologik va xavfsizlik talablariga rioya qilish zarur. Barcha bu omillarni hisobga olgan holda, avtomobil yo‘llarining samarali va uzoq muddatli ishlashini ta’minlash mumkin bo‘ladi.</a:t>
            </a:r>
            <a:endParaRPr lang="ru-RU" dirty="0"/>
          </a:p>
        </p:txBody>
      </p:sp>
    </p:spTree>
    <p:extLst>
      <p:ext uri="{BB962C8B-B14F-4D97-AF65-F5344CB8AC3E}">
        <p14:creationId xmlns:p14="http://schemas.microsoft.com/office/powerpoint/2010/main" val="4187543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31895D-9DC9-78B9-4396-EFED281A8C8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Foydalanilgan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adabiyotlar</a:t>
            </a:r>
            <a:r>
              <a:rPr lang="en-US" dirty="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7293F74F-F788-12E9-27EB-B069AD0D1DAC}"/>
              </a:ext>
            </a:extLst>
          </p:cNvPr>
          <p:cNvSpPr>
            <a:spLocks noGrp="1"/>
          </p:cNvSpPr>
          <p:nvPr>
            <p:ph idx="1"/>
          </p:nvPr>
        </p:nvSpPr>
        <p:spPr>
          <a:xfrm>
            <a:off x="677334" y="1584959"/>
            <a:ext cx="8596668" cy="4456403"/>
          </a:xfrm>
        </p:spPr>
        <p:txBody>
          <a:bodyPr/>
          <a:lstStyle/>
          <a:p>
            <a:pPr marL="0" indent="0">
              <a:buNone/>
            </a:pPr>
            <a:r>
              <a:rPr lang="en-US" b="1" dirty="0">
                <a:latin typeface="Times New Roman" panose="02020603050405020304" pitchFamily="18" charset="0"/>
                <a:cs typeface="Times New Roman" panose="02020603050405020304" pitchFamily="18" charset="0"/>
              </a:rPr>
              <a:t>1.</a:t>
            </a:r>
            <a:r>
              <a:rPr lang="uz-Latn-UZ" b="1" dirty="0">
                <a:latin typeface="Times New Roman" panose="02020603050405020304" pitchFamily="18" charset="0"/>
                <a:cs typeface="Times New Roman" panose="02020603050405020304" pitchFamily="18" charset="0"/>
              </a:rPr>
              <a:t>Qayumov, X.</a:t>
            </a:r>
            <a:r>
              <a:rPr lang="uz-Latn-UZ" dirty="0">
                <a:latin typeface="Times New Roman" panose="02020603050405020304" pitchFamily="18" charset="0"/>
                <a:cs typeface="Times New Roman" panose="02020603050405020304" pitchFamily="18" charset="0"/>
              </a:rPr>
              <a:t> (2015). </a:t>
            </a:r>
            <a:r>
              <a:rPr lang="uz-Latn-UZ" i="1" dirty="0">
                <a:latin typeface="Times New Roman" panose="02020603050405020304" pitchFamily="18" charset="0"/>
                <a:cs typeface="Times New Roman" panose="02020603050405020304" pitchFamily="18" charset="0"/>
              </a:rPr>
              <a:t>Avtomobil yo‘llari va ularning qurilishi</a:t>
            </a:r>
            <a:r>
              <a:rPr lang="uz-Latn-UZ" dirty="0">
                <a:latin typeface="Times New Roman" panose="02020603050405020304" pitchFamily="18" charset="0"/>
                <a:cs typeface="Times New Roman" panose="02020603050405020304" pitchFamily="18" charset="0"/>
              </a:rPr>
              <a:t>. Tashkent: O‘zbekiston milliy universiteti nashriyoti.</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2.</a:t>
            </a:r>
            <a:r>
              <a:rPr lang="uz-Latn-UZ" b="1" dirty="0">
                <a:latin typeface="Times New Roman" panose="02020603050405020304" pitchFamily="18" charset="0"/>
                <a:cs typeface="Times New Roman" panose="02020603050405020304" pitchFamily="18" charset="0"/>
              </a:rPr>
              <a:t>Yusupov, M.</a:t>
            </a:r>
            <a:r>
              <a:rPr lang="uz-Latn-UZ" dirty="0">
                <a:latin typeface="Times New Roman" panose="02020603050405020304" pitchFamily="18" charset="0"/>
                <a:cs typeface="Times New Roman" panose="02020603050405020304" pitchFamily="18" charset="0"/>
              </a:rPr>
              <a:t> (2016). </a:t>
            </a:r>
            <a:r>
              <a:rPr lang="uz-Latn-UZ" i="1" dirty="0">
                <a:latin typeface="Times New Roman" panose="02020603050405020304" pitchFamily="18" charset="0"/>
                <a:cs typeface="Times New Roman" panose="02020603050405020304" pitchFamily="18" charset="0"/>
              </a:rPr>
              <a:t>Yo‘l qurilishi va ta’mir ishlari texnologiyasi</a:t>
            </a:r>
            <a:r>
              <a:rPr lang="uz-Latn-UZ" dirty="0">
                <a:latin typeface="Times New Roman" panose="02020603050405020304" pitchFamily="18" charset="0"/>
                <a:cs typeface="Times New Roman" panose="02020603050405020304" pitchFamily="18" charset="0"/>
              </a:rPr>
              <a:t>. Toshkent: O‘zbekiston davlat qurilish va arxitektura instituti nashriyoti.</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3.</a:t>
            </a:r>
            <a:r>
              <a:rPr lang="uz-Latn-UZ" b="1" dirty="0">
                <a:latin typeface="Times New Roman" panose="02020603050405020304" pitchFamily="18" charset="0"/>
                <a:cs typeface="Times New Roman" panose="02020603050405020304" pitchFamily="18" charset="0"/>
              </a:rPr>
              <a:t>Shukurov, S.</a:t>
            </a:r>
            <a:r>
              <a:rPr lang="uz-Latn-UZ" dirty="0">
                <a:latin typeface="Times New Roman" panose="02020603050405020304" pitchFamily="18" charset="0"/>
                <a:cs typeface="Times New Roman" panose="02020603050405020304" pitchFamily="18" charset="0"/>
              </a:rPr>
              <a:t> (2017). </a:t>
            </a:r>
            <a:r>
              <a:rPr lang="uz-Latn-UZ" i="1" dirty="0">
                <a:latin typeface="Times New Roman" panose="02020603050405020304" pitchFamily="18" charset="0"/>
                <a:cs typeface="Times New Roman" panose="02020603050405020304" pitchFamily="18" charset="0"/>
              </a:rPr>
              <a:t>Yo‘llarni texnik xizmat bilan ta’minlash va ta’mirlash</a:t>
            </a:r>
            <a:r>
              <a:rPr lang="uz-Latn-UZ" dirty="0">
                <a:latin typeface="Times New Roman" panose="02020603050405020304" pitchFamily="18" charset="0"/>
                <a:cs typeface="Times New Roman" panose="02020603050405020304" pitchFamily="18" charset="0"/>
              </a:rPr>
              <a:t>: o‘quv qo‘llanma. Toshkent: O‘zbek milliy iqtisodiy universiteti nashriyoti.</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4.</a:t>
            </a:r>
            <a:r>
              <a:rPr lang="uz-Latn-UZ" b="1" dirty="0">
                <a:latin typeface="Times New Roman" panose="02020603050405020304" pitchFamily="18" charset="0"/>
                <a:cs typeface="Times New Roman" panose="02020603050405020304" pitchFamily="18" charset="0"/>
              </a:rPr>
              <a:t>Abdullayev, S., &amp; Mirzaev, A.</a:t>
            </a:r>
            <a:r>
              <a:rPr lang="uz-Latn-UZ" dirty="0">
                <a:latin typeface="Times New Roman" panose="02020603050405020304" pitchFamily="18" charset="0"/>
                <a:cs typeface="Times New Roman" panose="02020603050405020304" pitchFamily="18" charset="0"/>
              </a:rPr>
              <a:t> (2019). </a:t>
            </a:r>
            <a:r>
              <a:rPr lang="uz-Latn-UZ" i="1" dirty="0">
                <a:latin typeface="Times New Roman" panose="02020603050405020304" pitchFamily="18" charset="0"/>
                <a:cs typeface="Times New Roman" panose="02020603050405020304" pitchFamily="18" charset="0"/>
              </a:rPr>
              <a:t>Yo‘l ta’miri va texnik xizmat ko‘rsatishning asosiy tamoyillari</a:t>
            </a:r>
            <a:r>
              <a:rPr lang="uz-Latn-UZ" dirty="0">
                <a:latin typeface="Times New Roman" panose="02020603050405020304" pitchFamily="18" charset="0"/>
                <a:cs typeface="Times New Roman" panose="02020603050405020304" pitchFamily="18" charset="0"/>
              </a:rPr>
              <a:t>. Tashkent: O‘zbekiston transport va logistika universiteti.</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8885582"/>
      </p:ext>
    </p:extLst>
  </p:cSld>
  <p:clrMapOvr>
    <a:masterClrMapping/>
  </p:clrMapOvr>
</p:sld>
</file>

<file path=ppt/theme/theme1.xml><?xml version="1.0" encoding="utf-8"?>
<a:theme xmlns:a="http://schemas.openxmlformats.org/drawingml/2006/main" name="Аспект">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75</TotalTime>
  <Words>2459</Words>
  <Application>Microsoft Office PowerPoint</Application>
  <PresentationFormat>Широкоэкранный</PresentationFormat>
  <Paragraphs>50</Paragraphs>
  <Slides>12</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12</vt:i4>
      </vt:variant>
    </vt:vector>
  </HeadingPairs>
  <TitlesOfParts>
    <vt:vector size="17" baseType="lpstr">
      <vt:lpstr>Arial</vt:lpstr>
      <vt:lpstr>Times New Roman</vt:lpstr>
      <vt:lpstr>Trebuchet MS</vt:lpstr>
      <vt:lpstr>Wingdings 3</vt:lpstr>
      <vt:lpstr>Аспект</vt:lpstr>
      <vt:lpstr>Mavzu:Avtomobil yo’llarni ta’mirlash va texnik xizmat ko’rsatishning texnik qoidalari</vt:lpstr>
      <vt:lpstr>                          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                              Xulosa</vt:lpstr>
      <vt:lpstr>        Foydalanilgan adabiyotlar: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Windows 10</dc:creator>
  <cp:lastModifiedBy>Windows 10</cp:lastModifiedBy>
  <cp:revision>1</cp:revision>
  <dcterms:created xsi:type="dcterms:W3CDTF">2024-11-07T03:37:54Z</dcterms:created>
  <dcterms:modified xsi:type="dcterms:W3CDTF">2024-11-07T04:53:19Z</dcterms:modified>
</cp:coreProperties>
</file>